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D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731520"/>
            <a:ext cx="2560320" cy="2560320"/>
          </a:xfrm>
          <a:prstGeom prst="ellipse">
            <a:avLst/>
          </a:prstGeom>
          <a:solidFill>
            <a:srgbClr val="185FA5">
              <a:alpha val="30000"/>
            </a:srgbClr>
          </a:solidFill>
          <a:ln w="12700">
            <a:solidFill>
              <a:srgbClr val="185FA5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-182880"/>
            <a:ext cx="1828800" cy="1828800"/>
          </a:xfrm>
          <a:prstGeom prst="ellipse">
            <a:avLst/>
          </a:prstGeom>
          <a:solidFill>
            <a:srgbClr val="378ADD">
              <a:alpha val="40000"/>
            </a:srgbClr>
          </a:solidFill>
          <a:ln w="12700">
            <a:solidFill>
              <a:srgbClr val="378ADD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48640"/>
            <a:ext cx="822960" cy="822960"/>
          </a:xfrm>
          <a:prstGeom prst="ellipse">
            <a:avLst/>
          </a:prstGeom>
          <a:solidFill>
            <a:srgbClr val="185FA5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548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5486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NLC TPS-II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9601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B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Neyveli Lignite Corporation · Thermal Power Station II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508760"/>
            <a:ext cx="7772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for</a:t>
            </a:r>
            <a:endParaRPr lang="en-US" sz="5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Division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502920" y="33375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B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· Internal Only · Intelligent Operations Assistant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1C38"/>
          </a:solidFill>
          <a:ln w="12700">
            <a:solidFill>
              <a:srgbClr val="071C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46908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B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Mohanraj · CSE Division · NLC TPS-II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0" y="469087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Internal Use Only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C2D57"/>
          </a:solidFill>
          <a:ln w="12700">
            <a:solidFill>
              <a:srgbClr val="0C2D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 Are Solving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4160520" cy="160020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43000"/>
            <a:ext cx="73152" cy="160020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2527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12344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fault resolution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581912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spend hours diagnosing equipment faults manually, consulting old manuals and call experts.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143000"/>
            <a:ext cx="4160520" cy="160020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143000"/>
            <a:ext cx="73152" cy="160020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5192" y="12527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86400" y="12344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shift reports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0" y="1581912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handover reports are written by hand, inconsistent, and sometimes incomplete or delayed.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926080"/>
            <a:ext cx="4160520" cy="160020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926080"/>
            <a:ext cx="73152" cy="160020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🔎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05840" y="301752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silos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3364992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operational knowledge lives in individual experts' heads and disconnected paper records.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2926080"/>
            <a:ext cx="4160520" cy="160020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926080"/>
            <a:ext cx="73152" cy="160020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65192" y="3035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86400" y="301752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 risk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0" y="3364992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digital tools send plant data to external cloud servers — a security and compliance risk.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NLC TPS-II AI Agent addresses all four problems — securely, on your internal network.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C2D57"/>
          </a:solidFill>
          <a:ln w="12700">
            <a:solidFill>
              <a:srgbClr val="0C2D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NLC TPS-II AI Agent?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8503920" cy="685800"/>
          </a:xfrm>
          <a:prstGeom prst="rect">
            <a:avLst/>
          </a:prstGeom>
          <a:solidFill>
            <a:srgbClr val="E6F1FB"/>
          </a:solidFill>
          <a:ln w="6350">
            <a:solidFill>
              <a:srgbClr val="B5D4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0C2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intelligent, secure, offline AI assistant built exclusively for NLC TPS-II CSE Division — helping engineers, technicians, and management work smarter.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" y="1920240"/>
            <a:ext cx="416052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920240"/>
            <a:ext cx="73152" cy="132588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199339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AI anything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340864"/>
            <a:ext cx="3383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Q&amp;A on equipment, SOPs, and plant operations — no manuals needed.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1920240"/>
            <a:ext cx="416052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920240"/>
            <a:ext cx="73152" cy="132588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65192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86400" y="199339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diagnosis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0" y="2340864"/>
            <a:ext cx="3383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AI-guided diagnosis for PA Fan, CEP, ID Fan, Boiler, Turbine, Transformer.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383280"/>
            <a:ext cx="416052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383280"/>
            <a:ext cx="73152" cy="132588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05840" y="345643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log tracking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3803904"/>
            <a:ext cx="3383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shift events, alerts, and notes digitally. Auto-generate handover summaries.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3383280"/>
            <a:ext cx="416052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3383280"/>
            <a:ext cx="73152" cy="132588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65192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486400" y="345643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0" y="3803904"/>
            <a:ext cx="3383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shift reports and fault reports — accurate, consistent, and professional.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C2D57"/>
          </a:solidFill>
          <a:ln w="12700">
            <a:solidFill>
              <a:srgbClr val="0C2D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— 100% Internal, Zero Data Leakage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8503920" cy="594360"/>
          </a:xfrm>
          <a:prstGeom prst="rect">
            <a:avLst/>
          </a:prstGeom>
          <a:solidFill>
            <a:srgbClr val="EAF3DE"/>
          </a:solidFill>
          <a:ln w="6350">
            <a:solidFill>
              <a:srgbClr val="6EE7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The AI model runs ENTIRELY inside NLC's internal network. No plant data ever leaves TPS-II premises.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" y="1828800"/>
            <a:ext cx="2743200" cy="123444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920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🛡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190195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2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LAN only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33172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server accessible only on NLC intranet. Firewall blocks all external access.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1828800"/>
            <a:ext cx="2743200" cy="123444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920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🔑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749040" y="190195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2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login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233172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access levels for Engineer, Technician, and DGM/Management. JWT-secured sessions.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80760" y="1828800"/>
            <a:ext cx="2743200" cy="123444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920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629400" y="190195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2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comms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72200" y="233172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browser-to-server communication uses HTTPS/TLS encryption, even on internal network.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3246120"/>
            <a:ext cx="2743200" cy="123444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337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68680" y="331927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2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" y="374904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login, query, fault log and report is recorded with timestamp and user ID for compliance.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0" y="3246120"/>
            <a:ext cx="2743200" cy="123444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3337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749040" y="331927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2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AI model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91840" y="374904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Ollama + Llama 3 running locally. No API calls to OpenAI, Google, or any external service.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080760" y="3246120"/>
            <a:ext cx="2743200" cy="123444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3337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💾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629400" y="331927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2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stays on-site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72200" y="374904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database on NLC server. All shift logs, faults and reports stored internally.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C2D57"/>
          </a:solidFill>
          <a:ln w="12700">
            <a:solidFill>
              <a:srgbClr val="0C2D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— Simple &amp; Proven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1572768" cy="34747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5156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399032"/>
            <a:ext cx="1572768" cy="329184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508760"/>
            <a:ext cx="1389888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8912" y="1508760"/>
            <a:ext cx="13350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C2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2240280"/>
            <a:ext cx="1389888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8912" y="2240280"/>
            <a:ext cx="13350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C2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2971800"/>
            <a:ext cx="1389888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38912" y="2971800"/>
            <a:ext cx="13350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C2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(internal server)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039112" y="1051560"/>
            <a:ext cx="1572768" cy="34747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39112" y="105156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039112" y="1399032"/>
            <a:ext cx="1572768" cy="329184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30552" y="1508760"/>
            <a:ext cx="1389888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157984" y="1508760"/>
            <a:ext cx="13350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C2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(local LLM host)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130552" y="2240280"/>
            <a:ext cx="1389888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157984" y="2240280"/>
            <a:ext cx="13350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C2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 / Mistral 7B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130552" y="2971800"/>
            <a:ext cx="1389888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157984" y="2971800"/>
            <a:ext cx="13350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C2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(agent logic)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130552" y="3703320"/>
            <a:ext cx="1389888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157984" y="3703320"/>
            <a:ext cx="13350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C2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(NLC docs search)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758184" y="1051560"/>
            <a:ext cx="1572768" cy="347472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58184" y="105156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758184" y="1399032"/>
            <a:ext cx="1572768" cy="329184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9624" y="1508760"/>
            <a:ext cx="1389888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877056" y="1508760"/>
            <a:ext cx="13350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C2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849624" y="2240280"/>
            <a:ext cx="1389888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877056" y="2240280"/>
            <a:ext cx="13350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C2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849624" y="2971800"/>
            <a:ext cx="1389888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877056" y="2971800"/>
            <a:ext cx="13350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C2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477256" y="1051560"/>
            <a:ext cx="1572768" cy="34747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77256" y="105156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77256" y="1399032"/>
            <a:ext cx="1572768" cy="329184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568696" y="1508760"/>
            <a:ext cx="1389888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596128" y="1508760"/>
            <a:ext cx="13350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C2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568696" y="2240280"/>
            <a:ext cx="1389888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596128" y="2240280"/>
            <a:ext cx="13350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C2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log &amp; shift log tables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568696" y="2971800"/>
            <a:ext cx="1389888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596128" y="2971800"/>
            <a:ext cx="13350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C2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196328" y="1051560"/>
            <a:ext cx="1572768" cy="34747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96328" y="105156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196328" y="1399032"/>
            <a:ext cx="1572768" cy="329184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287768" y="1508760"/>
            <a:ext cx="1389888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7315200" y="1508760"/>
            <a:ext cx="13350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C2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firewall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287768" y="2240280"/>
            <a:ext cx="1389888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7315200" y="2240280"/>
            <a:ext cx="13350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C2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HTTPS/TLS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287768" y="2971800"/>
            <a:ext cx="1389888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7315200" y="2971800"/>
            <a:ext cx="13350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C2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287768" y="3703320"/>
            <a:ext cx="1389888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7315200" y="3703320"/>
            <a:ext cx="13350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C2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components run on-premise on NLC servers. No subscriptions, no cloud dependency.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C2D57"/>
          </a:solidFill>
          <a:ln w="12700">
            <a:solidFill>
              <a:srgbClr val="0C2D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the AI Agent &amp; How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743200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2743200" cy="822960"/>
          </a:xfrm>
          <a:prstGeom prst="rect">
            <a:avLst/>
          </a:prstGeom>
          <a:solidFill>
            <a:srgbClr val="0C2D57"/>
          </a:solidFill>
          <a:ln w="12700">
            <a:solidFill>
              <a:srgbClr val="0C2D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👨‍💼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100584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DGM / Management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164592" cy="164592"/>
          </a:xfrm>
          <a:prstGeom prst="ellipse">
            <a:avLst/>
          </a:prstGeom>
          <a:solidFill>
            <a:srgbClr val="0C2D57"/>
          </a:solidFill>
          <a:ln w="12700">
            <a:solidFill>
              <a:srgbClr val="0C2D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1901952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real-time unit status &amp; alerts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670048"/>
            <a:ext cx="164592" cy="164592"/>
          </a:xfrm>
          <a:prstGeom prst="ellipse">
            <a:avLst/>
          </a:prstGeom>
          <a:solidFill>
            <a:srgbClr val="0C2D57"/>
          </a:solidFill>
          <a:ln w="12700">
            <a:solidFill>
              <a:srgbClr val="0C2D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260604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shift summary reports instantly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374136"/>
            <a:ext cx="164592" cy="164592"/>
          </a:xfrm>
          <a:prstGeom prst="ellipse">
            <a:avLst/>
          </a:prstGeom>
          <a:solidFill>
            <a:srgbClr val="0C2D57"/>
          </a:solidFill>
          <a:ln w="12700">
            <a:solidFill>
              <a:srgbClr val="0C2D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3310128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open faults &amp; resolution status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4078224"/>
            <a:ext cx="164592" cy="164592"/>
          </a:xfrm>
          <a:prstGeom prst="ellipse">
            <a:avLst/>
          </a:prstGeom>
          <a:solidFill>
            <a:srgbClr val="0C2D57"/>
          </a:solidFill>
          <a:ln w="12700">
            <a:solidFill>
              <a:srgbClr val="0C2D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4014216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team performance &amp; compliance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0" y="1005840"/>
            <a:ext cx="2743200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1005840"/>
            <a:ext cx="2743200" cy="82296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100584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👷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840480" y="100584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&amp; Officers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37560" y="1965960"/>
            <a:ext cx="164592" cy="164592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84448" y="1901952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AI for fault diagnosis guidance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37560" y="2670048"/>
            <a:ext cx="164592" cy="164592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84448" y="260604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and track equipment faults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37560" y="3374136"/>
            <a:ext cx="164592" cy="164592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84448" y="3310128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technical reports with one click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37560" y="4078224"/>
            <a:ext cx="164592" cy="164592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84448" y="4014216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plant SOPs and manuals in natural language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80760" y="1005840"/>
            <a:ext cx="2743200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80760" y="1005840"/>
            <a:ext cx="2743200" cy="8229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80760" y="100584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🔧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6720840" y="100584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Technicians on Field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17920" y="1965960"/>
            <a:ext cx="164592" cy="164592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64808" y="1901952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shift events quickly via mobile/tablet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17920" y="2670048"/>
            <a:ext cx="164592" cy="164592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64808" y="260604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step-by-step repair guidance from AI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217920" y="3374136"/>
            <a:ext cx="164592" cy="164592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64808" y="3310128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faults with severity tagging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217920" y="4078224"/>
            <a:ext cx="164592" cy="164592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64808" y="4014216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alerts for critical equipment issues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C2D57"/>
          </a:solidFill>
          <a:ln w="12700">
            <a:solidFill>
              <a:srgbClr val="0C2D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8503920" cy="7315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81912" y="996696"/>
            <a:ext cx="274320" cy="274320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62272" y="996696"/>
            <a:ext cx="274320" cy="27432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42632" y="996696"/>
            <a:ext cx="274320" cy="27432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417320"/>
            <a:ext cx="27432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417320"/>
            <a:ext cx="2743200" cy="68580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41732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" y="1801368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weeks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212848"/>
            <a:ext cx="146304" cy="146304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21488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internal server &amp; install Ollama AI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898648"/>
            <a:ext cx="146304" cy="146304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28346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FastAPI backend &amp; PostgreSQL DB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584448"/>
            <a:ext cx="146304" cy="146304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35204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login system with role-based access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4270248"/>
            <a:ext cx="146304" cy="146304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" y="42062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AI chat for technical Q&amp;A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0" y="1417320"/>
            <a:ext cx="27432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1417320"/>
            <a:ext cx="2743200" cy="6858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141732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00400" y="1801368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weeks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37560" y="2212848"/>
            <a:ext cx="146304" cy="146304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47872" y="21488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fault diagnosis workflow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37560" y="2898648"/>
            <a:ext cx="146304" cy="146304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47872" y="28346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digital shift log system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337560" y="3584448"/>
            <a:ext cx="146304" cy="146304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47872" y="35204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NLC manuals to AI knowledge base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337560" y="4270248"/>
            <a:ext cx="146304" cy="146304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47872" y="42062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CSE Division engineers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080760" y="1417320"/>
            <a:ext cx="27432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80760" y="1417320"/>
            <a:ext cx="2743200" cy="6858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80760" y="141732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080760" y="1801368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weeks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17920" y="2212848"/>
            <a:ext cx="146304" cy="146304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28232" y="21488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shift report generation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217920" y="2898648"/>
            <a:ext cx="146304" cy="146304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28232" y="28346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DGM dashboard with live metrics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217920" y="3584448"/>
            <a:ext cx="146304" cy="146304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28232" y="35204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SCADA/DCS data integration (optional)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217920" y="4270248"/>
            <a:ext cx="146304" cy="146304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28232" y="42062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go-live for all users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estimated timeline: 5–8 weeks from approval to go-live with CSE Division.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2D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200400"/>
            <a:ext cx="3200400" cy="3200400"/>
          </a:xfrm>
          <a:prstGeom prst="ellipse">
            <a:avLst/>
          </a:prstGeom>
          <a:solidFill>
            <a:srgbClr val="185FA5">
              <a:alpha val="30000"/>
            </a:srgbClr>
          </a:solidFill>
          <a:ln w="12700">
            <a:solidFill>
              <a:srgbClr val="185FA5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731520"/>
            <a:ext cx="2743200" cy="2743200"/>
          </a:xfrm>
          <a:prstGeom prst="ellipse">
            <a:avLst/>
          </a:prstGeom>
          <a:solidFill>
            <a:srgbClr val="378ADD">
              <a:alpha val="25000"/>
            </a:srgbClr>
          </a:solidFill>
          <a:ln w="12700">
            <a:solidFill>
              <a:srgbClr val="378ADD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8046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Build This</a:t>
            </a:r>
            <a:endParaRPr lang="en-US" sz="4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NLC TPS-II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BB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Agent will make CSE Division faster, smarter, and more secure —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BB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keeping all plant data 100% within NLC's internal network.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97280" y="3657600"/>
            <a:ext cx="2148840" cy="731520"/>
          </a:xfrm>
          <a:prstGeom prst="rect">
            <a:avLst/>
          </a:prstGeom>
          <a:solidFill>
            <a:srgbClr val="185FA5"/>
          </a:solidFill>
          <a:ln w="6350">
            <a:solidFill>
              <a:srgbClr val="378A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365760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project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66160" y="3657600"/>
            <a:ext cx="2148840" cy="731520"/>
          </a:xfrm>
          <a:prstGeom prst="rect">
            <a:avLst/>
          </a:prstGeom>
          <a:solidFill>
            <a:srgbClr val="185FA5"/>
          </a:solidFill>
          <a:ln w="6350">
            <a:solidFill>
              <a:srgbClr val="378A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66160" y="365760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internal server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3657600"/>
            <a:ext cx="2148840" cy="731520"/>
          </a:xfrm>
          <a:prstGeom prst="rect">
            <a:avLst/>
          </a:prstGeom>
          <a:solidFill>
            <a:srgbClr val="185FA5"/>
          </a:solidFill>
          <a:ln w="6350">
            <a:solidFill>
              <a:srgbClr val="378A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365760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with CSE Division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Mohanraj · CSE Division · NLC TPS-II  |  For DGM Approval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NLC TPS-II AI Agent</dc:title>
  <dc:subject>PptxGenJS Presentation</dc:subject>
  <dc:creator>Mohanraj, CSE Division</dc:creator>
  <cp:lastModifiedBy>Mohanraj, CSE Division</cp:lastModifiedBy>
  <cp:revision>1</cp:revision>
  <dcterms:created xsi:type="dcterms:W3CDTF">2026-03-19T13:19:42Z</dcterms:created>
  <dcterms:modified xsi:type="dcterms:W3CDTF">2026-03-19T13:19:42Z</dcterms:modified>
</cp:coreProperties>
</file>